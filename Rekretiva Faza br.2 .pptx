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Alexandria Medium"/>
      <p:regular r:id="rId16"/>
      <p:bold r:id="rId17"/>
    </p:embeddedFont>
    <p:embeddedFont>
      <p:font typeface="Albert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-italic.fntdata"/><Relationship Id="rId21" Type="http://schemas.openxmlformats.org/officeDocument/2006/relationships/font" Target="fonts/Albert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lexandriaMedium-bold.fntdata"/><Relationship Id="rId16" Type="http://schemas.openxmlformats.org/officeDocument/2006/relationships/font" Target="fonts/AlexandriaMedium-regular.fntdata"/><Relationship Id="rId19" Type="http://schemas.openxmlformats.org/officeDocument/2006/relationships/font" Target="fonts/AlbertSans-bold.fntdata"/><Relationship Id="rId18" Type="http://schemas.openxmlformats.org/officeDocument/2006/relationships/font" Target="fonts/Albert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558abb5f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558abb5f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703cb3a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5703cb3a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53b51d4f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553b51d4f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5703cb3a7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5703cb3a7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58abb5fb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558abb5fb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5685abcf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5685abcf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558abb5fb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558abb5fb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703cb3a7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5703cb3a7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5703cb3a7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5703cb3a7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5703cb3a7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5703cb3a7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685abcf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685abcf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2272" l="-19689" r="19690" t="414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b="-40" l="36283" r="-6" t="3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41635" l="174697" r="177064" t="-83399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15100" y="1636300"/>
            <a:ext cx="3856800" cy="189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4"/>
          <p:cNvSpPr/>
          <p:nvPr>
            <p:ph idx="2" type="pic"/>
          </p:nvPr>
        </p:nvSpPr>
        <p:spPr>
          <a:xfrm>
            <a:off x="5715175" y="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47851" l="104756" r="280062" t="-108210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 b="34585" l="130683" r="175247" t="-50527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715100" y="535000"/>
            <a:ext cx="3856800" cy="9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715100" y="1641400"/>
            <a:ext cx="3856800" cy="72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7"/>
          <p:cNvSpPr/>
          <p:nvPr>
            <p:ph idx="2" type="pic"/>
          </p:nvPr>
        </p:nvSpPr>
        <p:spPr>
          <a:xfrm>
            <a:off x="5714900" y="-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b="2272" l="-19689" r="19690" t="414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/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b="-26994" l="7043" r="-48486" t="47434"/>
          <a:stretch/>
        </p:blipFill>
        <p:spPr>
          <a:xfrm flipH="1" rot="10800000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/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15100" y="4059800"/>
            <a:ext cx="7713600" cy="548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715100" y="3068600"/>
            <a:ext cx="7713900" cy="15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subTitle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hasCustomPrompt="1" type="title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2"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3" type="title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4" type="subTitle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hasCustomPrompt="1" idx="5" type="title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6" type="subTitle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7" type="title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idx="8" type="subTitle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9" type="title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13" type="subTitle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hasCustomPrompt="1" idx="14" type="title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idx="15" type="subTitle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hasCustomPrompt="1" idx="16" type="title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idx="17" type="subTitle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hasCustomPrompt="1" idx="18" type="title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idx="19" type="subTitle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 b="-35825" l="-6643" r="27548" t="13471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715100" y="1503175"/>
            <a:ext cx="5930100" cy="20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6" name="Google Shape;76;p14"/>
          <p:cNvSpPr txBox="1"/>
          <p:nvPr>
            <p:ph idx="2" type="subTitle"/>
          </p:nvPr>
        </p:nvSpPr>
        <p:spPr>
          <a:xfrm>
            <a:off x="715100" y="39653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b="2272" l="-19689" r="19690" t="41478"/>
          <a:stretch/>
        </p:blipFill>
        <p:spPr>
          <a:xfrm flipH="1" rot="10800000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 rotWithShape="1">
          <a:blip r:embed="rId2">
            <a:alphaModFix/>
          </a:blip>
          <a:srcRect b="-26994" l="7043" r="-48486" t="47434"/>
          <a:stretch/>
        </p:blipFill>
        <p:spPr>
          <a:xfrm flipH="1" rot="10800000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type="title"/>
          </p:nvPr>
        </p:nvSpPr>
        <p:spPr>
          <a:xfrm>
            <a:off x="715100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715100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type="title"/>
          </p:nvPr>
        </p:nvSpPr>
        <p:spPr>
          <a:xfrm>
            <a:off x="43022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3022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15454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454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3" type="subTitle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4" type="subTitle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flipH="1" rot="10800000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2" type="subTitle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3" type="subTitle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4" type="subTitle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5" type="subTitle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6" type="subTitle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15100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2" type="subTitle"/>
          </p:nvPr>
        </p:nvSpPr>
        <p:spPr>
          <a:xfrm>
            <a:off x="7151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idx="3" type="subTitle"/>
          </p:nvPr>
        </p:nvSpPr>
        <p:spPr>
          <a:xfrm>
            <a:off x="3506099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4" type="subTitle"/>
          </p:nvPr>
        </p:nvSpPr>
        <p:spPr>
          <a:xfrm>
            <a:off x="3506099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5" type="subTitle"/>
          </p:nvPr>
        </p:nvSpPr>
        <p:spPr>
          <a:xfrm>
            <a:off x="6297200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6" type="subTitle"/>
          </p:nvPr>
        </p:nvSpPr>
        <p:spPr>
          <a:xfrm>
            <a:off x="62972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 b="47851" l="104756" r="280062" t="-108210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idx="1" type="subTitle"/>
          </p:nvPr>
        </p:nvSpPr>
        <p:spPr>
          <a:xfrm>
            <a:off x="715100" y="20465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2" type="subTitle"/>
          </p:nvPr>
        </p:nvSpPr>
        <p:spPr>
          <a:xfrm>
            <a:off x="715100" y="32990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3" type="subTitle"/>
          </p:nvPr>
        </p:nvSpPr>
        <p:spPr>
          <a:xfrm>
            <a:off x="7151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4" type="subTitle"/>
          </p:nvPr>
        </p:nvSpPr>
        <p:spPr>
          <a:xfrm>
            <a:off x="7151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4648300" y="20465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6" type="subTitle"/>
          </p:nvPr>
        </p:nvSpPr>
        <p:spPr>
          <a:xfrm>
            <a:off x="4648300" y="32990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7" type="subTitle"/>
          </p:nvPr>
        </p:nvSpPr>
        <p:spPr>
          <a:xfrm>
            <a:off x="46483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8" type="subTitle"/>
          </p:nvPr>
        </p:nvSpPr>
        <p:spPr>
          <a:xfrm>
            <a:off x="46483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" type="subTitle"/>
          </p:nvPr>
        </p:nvSpPr>
        <p:spPr>
          <a:xfrm>
            <a:off x="715100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subTitle"/>
          </p:nvPr>
        </p:nvSpPr>
        <p:spPr>
          <a:xfrm>
            <a:off x="715100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3" type="subTitle"/>
          </p:nvPr>
        </p:nvSpPr>
        <p:spPr>
          <a:xfrm>
            <a:off x="7151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35" name="Google Shape;135;p23"/>
          <p:cNvSpPr txBox="1"/>
          <p:nvPr>
            <p:ph idx="4" type="subTitle"/>
          </p:nvPr>
        </p:nvSpPr>
        <p:spPr>
          <a:xfrm>
            <a:off x="7151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5" type="subTitle"/>
          </p:nvPr>
        </p:nvSpPr>
        <p:spPr>
          <a:xfrm>
            <a:off x="3355799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6" type="subTitle"/>
          </p:nvPr>
        </p:nvSpPr>
        <p:spPr>
          <a:xfrm>
            <a:off x="3355799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7" type="subTitle"/>
          </p:nvPr>
        </p:nvSpPr>
        <p:spPr>
          <a:xfrm>
            <a:off x="33558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39" name="Google Shape;139;p23"/>
          <p:cNvSpPr txBox="1"/>
          <p:nvPr>
            <p:ph idx="8" type="subTitle"/>
          </p:nvPr>
        </p:nvSpPr>
        <p:spPr>
          <a:xfrm>
            <a:off x="33558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40" name="Google Shape;140;p23"/>
          <p:cNvSpPr txBox="1"/>
          <p:nvPr>
            <p:ph idx="9" type="subTitle"/>
          </p:nvPr>
        </p:nvSpPr>
        <p:spPr>
          <a:xfrm>
            <a:off x="5996501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3" type="subTitle"/>
          </p:nvPr>
        </p:nvSpPr>
        <p:spPr>
          <a:xfrm>
            <a:off x="5996501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4" type="subTitle"/>
          </p:nvPr>
        </p:nvSpPr>
        <p:spPr>
          <a:xfrm>
            <a:off x="5996503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15" type="subTitle"/>
          </p:nvPr>
        </p:nvSpPr>
        <p:spPr>
          <a:xfrm>
            <a:off x="5996503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>
            <p:ph hasCustomPrompt="1" type="title"/>
          </p:nvPr>
        </p:nvSpPr>
        <p:spPr>
          <a:xfrm>
            <a:off x="715100" y="983000"/>
            <a:ext cx="7713900" cy="9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7" name="Google Shape;147;p24"/>
          <p:cNvSpPr txBox="1"/>
          <p:nvPr>
            <p:ph idx="1" type="subTitle"/>
          </p:nvPr>
        </p:nvSpPr>
        <p:spPr>
          <a:xfrm>
            <a:off x="715100" y="1858700"/>
            <a:ext cx="77139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hasCustomPrompt="1" idx="2" type="title"/>
          </p:nvPr>
        </p:nvSpPr>
        <p:spPr>
          <a:xfrm>
            <a:off x="715100" y="2921600"/>
            <a:ext cx="7713900" cy="9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9" name="Google Shape;149;p24"/>
          <p:cNvSpPr txBox="1"/>
          <p:nvPr>
            <p:ph idx="3" type="subTitle"/>
          </p:nvPr>
        </p:nvSpPr>
        <p:spPr>
          <a:xfrm>
            <a:off x="715100" y="3797300"/>
            <a:ext cx="77139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hasCustomPrompt="1" idx="2" type="title"/>
          </p:nvPr>
        </p:nvSpPr>
        <p:spPr>
          <a:xfrm>
            <a:off x="7151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25"/>
          <p:cNvSpPr txBox="1"/>
          <p:nvPr>
            <p:ph idx="1" type="subTitle"/>
          </p:nvPr>
        </p:nvSpPr>
        <p:spPr>
          <a:xfrm>
            <a:off x="715100" y="3291950"/>
            <a:ext cx="378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3" type="subTitle"/>
          </p:nvPr>
        </p:nvSpPr>
        <p:spPr>
          <a:xfrm>
            <a:off x="7151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4" type="subTitle"/>
          </p:nvPr>
        </p:nvSpPr>
        <p:spPr>
          <a:xfrm>
            <a:off x="4648300" y="3291950"/>
            <a:ext cx="378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5" type="subTitle"/>
          </p:nvPr>
        </p:nvSpPr>
        <p:spPr>
          <a:xfrm>
            <a:off x="46483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hasCustomPrompt="1" idx="6" type="title"/>
          </p:nvPr>
        </p:nvSpPr>
        <p:spPr>
          <a:xfrm>
            <a:off x="46483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flipH="1" rot="10800000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b="-11170" l="-6643" r="27548" t="-11183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/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2" name="Google Shape;172;p29"/>
          <p:cNvSpPr txBox="1"/>
          <p:nvPr>
            <p:ph idx="1" type="subTitle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" name="Google Shape;173;p29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b="-35825" l="-6643" r="27548" t="13471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flipH="1" rot="10800000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hyperlink" Target="http://rekreativadata.k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Relationship Id="rId4" Type="http://schemas.openxmlformats.org/officeDocument/2006/relationships/image" Target="../media/image15.jpg"/><Relationship Id="rId5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2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ctrTitle"/>
          </p:nvPr>
        </p:nvSpPr>
        <p:spPr>
          <a:xfrm>
            <a:off x="711750" y="1958600"/>
            <a:ext cx="6607500" cy="26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Rekreativa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Faza II</a:t>
            </a:r>
            <a:endParaRPr/>
          </a:p>
        </p:txBody>
      </p:sp>
      <p:sp>
        <p:nvSpPr>
          <p:cNvPr id="185" name="Google Shape;185;p32"/>
          <p:cNvSpPr txBox="1"/>
          <p:nvPr>
            <p:ph idx="1" type="subTitle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</a:t>
            </a:r>
            <a:r>
              <a:rPr b="1" lang="en"/>
              <a:t>Ajdin Herčinović</a:t>
            </a:r>
            <a:endParaRPr b="1"/>
          </a:p>
        </p:txBody>
      </p:sp>
      <p:cxnSp>
        <p:nvCxnSpPr>
          <p:cNvPr id="186" name="Google Shape;186;p32">
            <a:hlinkClick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/>
        </p:nvSpPr>
        <p:spPr>
          <a:xfrm>
            <a:off x="197200" y="769275"/>
            <a:ext cx="351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LOGIN </a:t>
            </a: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92" name="Google Shape;192;p33" title="Screenshot_20260131_100423_rekreativa[1]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463" y="78917"/>
            <a:ext cx="2258751" cy="489516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33"/>
          <p:cNvSpPr txBox="1"/>
          <p:nvPr/>
        </p:nvSpPr>
        <p:spPr>
          <a:xfrm>
            <a:off x="47500" y="1593200"/>
            <a:ext cx="3815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Pri prvom pokretanju aplikacije, korisnik prvo vidi ekran za prijavu. 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 trenutnoj fazi podaci se mogu unositi ali nema provjere validacije.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Dugme sa tekstom “PRIJAVI SE” vodi na sljedeći ekran aplikacije.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Dugme sa tekstom “REGISTRUJ SE” vodi na ekran za registraciju.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94" name="Google Shape;194;p33" title="Screenshot_20260131_101313_rekreativa[1]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6475" y="78917"/>
            <a:ext cx="2258751" cy="489516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/>
        </p:nvSpPr>
        <p:spPr>
          <a:xfrm>
            <a:off x="664175" y="225000"/>
            <a:ext cx="250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REGISTER </a:t>
            </a: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0" name="Google Shape;200;p34"/>
          <p:cNvSpPr txBox="1"/>
          <p:nvPr/>
        </p:nvSpPr>
        <p:spPr>
          <a:xfrm>
            <a:off x="306150" y="717600"/>
            <a:ext cx="34245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 trenutnoj fazi podaci se mogu unositi ali nema provjere validacije niti stvarnog upisa podataka ni lokalno ni u bazu podataka.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Polje za datum rođenja ima funkcionalni DatePicker za lakši i vizuelno ljepši unos podataka.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Dugme sa tekstom “PRIJAVI SE” vodi na ekran za prijavu.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Dugme sa tekstom “REGISTRUJ SE” trenutno nema funkcionalnosti..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01" name="Google Shape;201;p34" title="Screenshot_20260131_102255_rekreativa[1]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9952" y="152400"/>
            <a:ext cx="2232702" cy="483870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34" title="Screenshot_20260131_102308_rekreativa[1]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4850" y="152400"/>
            <a:ext cx="2232702" cy="483870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5" title="Screenshot_20260131_114017_rekreativa[1].jpg"/>
          <p:cNvPicPr preferRelativeResize="0"/>
          <p:nvPr/>
        </p:nvPicPr>
        <p:blipFill rotWithShape="1">
          <a:blip r:embed="rId3">
            <a:alphaModFix/>
          </a:blip>
          <a:srcRect b="0" l="0" r="0" t="3409"/>
          <a:stretch/>
        </p:blipFill>
        <p:spPr>
          <a:xfrm>
            <a:off x="5816350" y="234950"/>
            <a:ext cx="2232700" cy="467360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8" name="Google Shape;208;p35"/>
          <p:cNvSpPr txBox="1"/>
          <p:nvPr/>
        </p:nvSpPr>
        <p:spPr>
          <a:xfrm>
            <a:off x="664175" y="225000"/>
            <a:ext cx="250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POČETNA </a:t>
            </a: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9" name="Google Shape;209;p35"/>
          <p:cNvSpPr txBox="1"/>
          <p:nvPr/>
        </p:nvSpPr>
        <p:spPr>
          <a:xfrm>
            <a:off x="136050" y="540000"/>
            <a:ext cx="4989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Prelaskom na početni ekran aplikacije pojavljuje se navigacijski horizontalni meni na dnu ekrana koji je ključna funkcionalnost aplikacije. 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Služi za kretanje kroz najvažnije sekcije aplikacije.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Početni ekran sam zamislio kao neku “prečicu” aplikacije. U smislu “Zbog čega će korisnik najčešće ući u aplikaciju?” i da to pokušam prezentovati na samom početku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Za ovaj ekran sam koristio lokalno definisane podatke u fajlu </a:t>
            </a:r>
            <a:r>
              <a:rPr b="1" lang="en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4"/>
              </a:rPr>
              <a:t>RekreativaData.kt</a:t>
            </a: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da bih mogao uraditi UI dizajn po želji.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Plan za narednu fazu je prilagoditi postojeći UI da koristi bazu podataka.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/>
        </p:nvSpPr>
        <p:spPr>
          <a:xfrm>
            <a:off x="388000" y="242025"/>
            <a:ext cx="250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TERENI </a:t>
            </a: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15" name="Google Shape;215;p36"/>
          <p:cNvSpPr txBox="1"/>
          <p:nvPr/>
        </p:nvSpPr>
        <p:spPr>
          <a:xfrm>
            <a:off x="0" y="540000"/>
            <a:ext cx="30192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Tereni ekran predstavlja katalog dostupnih terena za rezervisanje.</a:t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Sadrži funkcionalosti dvije vrste filtriranja. Pretraga po nazivu ili po sportu/aktivnosti koja se može obavljati. </a:t>
            </a:r>
            <a:b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 defaultu su prikazani svi tereni, a moguće je odabrati jedan ili više sportova. Odabiri se nezavisni u smislu da ako korisnik odabere fudbal i košarku, rezultat filtriranja će biti tereni na kojima se može igrati ili fudbal ili košarka a ne oboje.</a:t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16" name="Google Shape;216;p36" title="Screenshot_20260131_115439_rekreativa.jpg"/>
          <p:cNvPicPr preferRelativeResize="0"/>
          <p:nvPr/>
        </p:nvPicPr>
        <p:blipFill rotWithShape="1">
          <a:blip r:embed="rId3">
            <a:alphaModFix/>
          </a:blip>
          <a:srcRect b="0" l="0" r="0" t="3063"/>
          <a:stretch/>
        </p:blipFill>
        <p:spPr>
          <a:xfrm>
            <a:off x="3019146" y="402548"/>
            <a:ext cx="1933151" cy="40612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7" name="Google Shape;217;p36" title="Screenshot_20260131_115455_rekreativa.jpg"/>
          <p:cNvPicPr preferRelativeResize="0"/>
          <p:nvPr/>
        </p:nvPicPr>
        <p:blipFill rotWithShape="1">
          <a:blip r:embed="rId4">
            <a:alphaModFix/>
          </a:blip>
          <a:srcRect b="0" l="0" r="0" t="3063"/>
          <a:stretch/>
        </p:blipFill>
        <p:spPr>
          <a:xfrm>
            <a:off x="5077541" y="402539"/>
            <a:ext cx="1933151" cy="406128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8" name="Google Shape;218;p36" title="Screenshot_20260131_115514_rekreativa.jpg"/>
          <p:cNvPicPr preferRelativeResize="0"/>
          <p:nvPr/>
        </p:nvPicPr>
        <p:blipFill rotWithShape="1">
          <a:blip r:embed="rId5">
            <a:alphaModFix/>
          </a:blip>
          <a:srcRect b="0" l="0" r="0" t="4425"/>
          <a:stretch/>
        </p:blipFill>
        <p:spPr>
          <a:xfrm>
            <a:off x="7118927" y="436214"/>
            <a:ext cx="1933151" cy="4003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7" title="Screenshot_20260131_121057_rekreativa.jpg"/>
          <p:cNvPicPr preferRelativeResize="0"/>
          <p:nvPr/>
        </p:nvPicPr>
        <p:blipFill rotWithShape="1">
          <a:blip r:embed="rId3">
            <a:alphaModFix/>
          </a:blip>
          <a:srcRect b="0" l="0" r="0" t="3400"/>
          <a:stretch/>
        </p:blipFill>
        <p:spPr>
          <a:xfrm>
            <a:off x="5084975" y="99221"/>
            <a:ext cx="1874953" cy="497907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7"/>
          <p:cNvSpPr txBox="1"/>
          <p:nvPr/>
        </p:nvSpPr>
        <p:spPr>
          <a:xfrm>
            <a:off x="388000" y="191000"/>
            <a:ext cx="250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TEREN </a:t>
            </a: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0" y="463125"/>
            <a:ext cx="48399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Kada korisnik klikne na dugme “POGLEDAJ” otvori mu se bolji pregled terena sa više informacija i formularom za rezervaciju.</a:t>
            </a:r>
            <a:b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Formular sadrži odabir za tip rezervacije, dva togglePill elementa gdje je moguć samo jedan odabir.</a:t>
            </a:r>
            <a:b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Ovisno od tog odabira, dinamički se mijenja polje za vrijeme rezervacije. Ukoliko je odabir JEDNOKRATNO , onda korisnik bira tačno određeni datum. U suprotnom za SEDMIČNO bira kojim danom u sedmici želi da ima termine.</a:t>
            </a:r>
            <a:b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Datum se bira preko ugrađenog DatePickera, a period i tip događaja preko ugrađenog dropDown menija sa unaprijed definisanim opcijama.</a:t>
            </a:r>
            <a:b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b="1" lang="en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Klikom na dugme “REZERVIŠI” kreira se rezervacija sa svim odabranim vrijednostim koja se šalje na bazu podatka. (Firebase)</a:t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26" name="Google Shape;226;p37" title="Screenshot_20260131_121806_rekreativa.jpg"/>
          <p:cNvPicPr preferRelativeResize="0"/>
          <p:nvPr/>
        </p:nvPicPr>
        <p:blipFill rotWithShape="1">
          <a:blip r:embed="rId4">
            <a:alphaModFix/>
          </a:blip>
          <a:srcRect b="0" l="0" r="0" t="3194"/>
          <a:stretch/>
        </p:blipFill>
        <p:spPr>
          <a:xfrm>
            <a:off x="7085852" y="99209"/>
            <a:ext cx="1871051" cy="4979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8" title="Screenshot_20260131_122554_rekreativa.jpg"/>
          <p:cNvPicPr preferRelativeResize="0"/>
          <p:nvPr/>
        </p:nvPicPr>
        <p:blipFill rotWithShape="1">
          <a:blip r:embed="rId3">
            <a:alphaModFix/>
          </a:blip>
          <a:srcRect b="1098" l="0" r="0" t="3372"/>
          <a:stretch/>
        </p:blipFill>
        <p:spPr>
          <a:xfrm>
            <a:off x="4489700" y="301175"/>
            <a:ext cx="2232700" cy="462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8" title="Screenshot_20260131_122606_rekreativa.jpg"/>
          <p:cNvPicPr preferRelativeResize="0"/>
          <p:nvPr/>
        </p:nvPicPr>
        <p:blipFill rotWithShape="1">
          <a:blip r:embed="rId4">
            <a:alphaModFix/>
          </a:blip>
          <a:srcRect b="0" l="0" r="0" t="4470"/>
          <a:stretch/>
        </p:blipFill>
        <p:spPr>
          <a:xfrm>
            <a:off x="6806750" y="317500"/>
            <a:ext cx="2232700" cy="462257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/>
          <p:nvPr/>
        </p:nvSpPr>
        <p:spPr>
          <a:xfrm>
            <a:off x="388000" y="191000"/>
            <a:ext cx="295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DOGAĐAJI </a:t>
            </a: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-150" y="735488"/>
            <a:ext cx="44055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Ekran događaji koristi identične metode filtriranja kao i ekran Tereni sa dodatkom dva togglePill dugmeta koja filtrira događaje na sve i one od korisnika koje su trenutnom korisniku prijatelji.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Trenutni događaji su lokalno pohranjeni i dugmad nemaju funkcionalnosti u ovoj fazi.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Ideja za narednu fazu je da za tipove otvorenih događaja korisnik klikom na dugme može odma pristupiti događaju ili poslati zahtjev za pristup za zatvoreni tip događaja.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Također je plan za narednu fazu da svi događaji budu pohranjeni na bazu podataka.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/>
        </p:nvSpPr>
        <p:spPr>
          <a:xfrm>
            <a:off x="388000" y="191000"/>
            <a:ext cx="295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TERMINI </a:t>
            </a: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40" name="Google Shape;240;p39" title="Screenshot_20260131_150014_rekreativa.jpg"/>
          <p:cNvPicPr preferRelativeResize="0"/>
          <p:nvPr/>
        </p:nvPicPr>
        <p:blipFill rotWithShape="1">
          <a:blip r:embed="rId3">
            <a:alphaModFix/>
          </a:blip>
          <a:srcRect b="0" l="0" r="0" t="3762"/>
          <a:stretch/>
        </p:blipFill>
        <p:spPr>
          <a:xfrm>
            <a:off x="4461300" y="243450"/>
            <a:ext cx="2232700" cy="465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9" title="Screenshot_20260131_150026_rekreativa.jpg"/>
          <p:cNvPicPr preferRelativeResize="0"/>
          <p:nvPr/>
        </p:nvPicPr>
        <p:blipFill rotWithShape="1">
          <a:blip r:embed="rId4">
            <a:alphaModFix/>
          </a:blip>
          <a:srcRect b="0" l="0" r="0" t="3762"/>
          <a:stretch/>
        </p:blipFill>
        <p:spPr>
          <a:xfrm>
            <a:off x="7033500" y="243450"/>
            <a:ext cx="1949176" cy="465659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9"/>
          <p:cNvSpPr txBox="1"/>
          <p:nvPr/>
        </p:nvSpPr>
        <p:spPr>
          <a:xfrm>
            <a:off x="-150" y="735488"/>
            <a:ext cx="44055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Ekran Termini služi za evidenciju rezervacija, dogovorenih termina, primljenih poziva i poslanih poziva.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Na vrhu je implementirana funkcionalnost filtriranja sadržaja na sve, samo termine ili samo pozive.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Rezervacija se pojavi nakon ispunjavanja formulara na ekranu nekog terena i klikom na dugme “REZERVIŠI”. Rezervacija se sprema na bazu podataka i čita sa iste na ovom ekranu.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Pozivi su trenutno lokalno pohranjeni radi kreireanja UI dizajna koji će se kasnije koristiti za prave podatke pohranjene u bazi.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0" title="Screenshot_20260131_150109_rekreativa.jpg"/>
          <p:cNvPicPr preferRelativeResize="0"/>
          <p:nvPr/>
        </p:nvPicPr>
        <p:blipFill rotWithShape="1">
          <a:blip r:embed="rId3">
            <a:alphaModFix/>
          </a:blip>
          <a:srcRect b="0" l="0" r="0" t="3762"/>
          <a:stretch/>
        </p:blipFill>
        <p:spPr>
          <a:xfrm>
            <a:off x="3911375" y="334500"/>
            <a:ext cx="2232700" cy="465659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0"/>
          <p:cNvSpPr txBox="1"/>
          <p:nvPr/>
        </p:nvSpPr>
        <p:spPr>
          <a:xfrm>
            <a:off x="388000" y="191000"/>
            <a:ext cx="337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PRIMJER REZERVACIJE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9" name="Google Shape;249;p40"/>
          <p:cNvSpPr txBox="1"/>
          <p:nvPr/>
        </p:nvSpPr>
        <p:spPr>
          <a:xfrm>
            <a:off x="-150" y="735500"/>
            <a:ext cx="3765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Nakon ispunjenog formulara i klikom na dugme korisnik dobija poruku o uspješnoj ili neuspješnoj rezervaciji.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Ukoliko je rezervacija uspješna, pojavit će se u sekciji rezervacija na ekranu termini.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Ideja je da korisnik rezerviše termin da ga sačuva ali ga mora potvrditi da bi on postao “DOGOVORENI TERMIN”.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Jednokratni termin se potvrđuje samo jednom, a sedmični se mora potvrditi svaki put. Ukoliko vlasnik termina ne potvrdi u određenom vremenskom periodu ili otkaže isti on se briše iz baze podataka i taj termin postaje ponovo dostupan ostalim korisnicima.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50" name="Google Shape;250;p40" title="Screenshot_20260131_150128_rekreativa.jpg"/>
          <p:cNvPicPr preferRelativeResize="0"/>
          <p:nvPr/>
        </p:nvPicPr>
        <p:blipFill rotWithShape="1">
          <a:blip r:embed="rId4">
            <a:alphaModFix/>
          </a:blip>
          <a:srcRect b="0" l="0" r="0" t="3762"/>
          <a:stretch/>
        </p:blipFill>
        <p:spPr>
          <a:xfrm>
            <a:off x="6568600" y="334500"/>
            <a:ext cx="2232700" cy="465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/>
        </p:nvSpPr>
        <p:spPr>
          <a:xfrm>
            <a:off x="388000" y="191000"/>
            <a:ext cx="295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PROFIL </a:t>
            </a: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56" name="Google Shape;256;p41" title="Screenshot_20260131_150141_rekreativa.jpg"/>
          <p:cNvPicPr preferRelativeResize="0"/>
          <p:nvPr/>
        </p:nvPicPr>
        <p:blipFill rotWithShape="1">
          <a:blip r:embed="rId3">
            <a:alphaModFix/>
          </a:blip>
          <a:srcRect b="0" l="0" r="0" t="2704"/>
          <a:stretch/>
        </p:blipFill>
        <p:spPr>
          <a:xfrm>
            <a:off x="3934025" y="283475"/>
            <a:ext cx="2232700" cy="470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1" title="Screenshot_20260131_150146_rekreativa.jpg"/>
          <p:cNvPicPr preferRelativeResize="0"/>
          <p:nvPr/>
        </p:nvPicPr>
        <p:blipFill rotWithShape="1">
          <a:blip r:embed="rId4">
            <a:alphaModFix/>
          </a:blip>
          <a:srcRect b="0" l="0" r="0" t="4113"/>
          <a:stretch/>
        </p:blipFill>
        <p:spPr>
          <a:xfrm>
            <a:off x="6421200" y="317500"/>
            <a:ext cx="2232700" cy="463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1"/>
          <p:cNvSpPr txBox="1"/>
          <p:nvPr/>
        </p:nvSpPr>
        <p:spPr>
          <a:xfrm>
            <a:off x="-85450" y="564525"/>
            <a:ext cx="40194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Profil ekran služi za upravljanje profilom, za eventualnu promjenu slike profila ili slično.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Pored toga ima poseban dio za rejting i statistiku. Ideja je da nakon svakog odigranog termina korisnici međusobno ostavljaju subjektivnu ocjenu za znanje u sportu i fair play.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Na taj način korisnici koji nisu poznanici imaju ideju o kakvim “igračima” se radi. 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Zamisao je da bi taj rejting podsticao natjecanje ali i poštovanje prema drugima.</a:t>
            </a:r>
            <a:b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Svi podaci za profil su trenutno lokalno pohranjeni sa idejom da se kasnije pohranjuju na bazu podataka.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715050" y="1215350"/>
            <a:ext cx="7713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Kraj.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